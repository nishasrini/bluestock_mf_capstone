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F81AE-C9C1-F6DE-84E0-3613062F12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Mutual Fund Analytics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61F6B4-ED0F-CFF0-30AD-A75D53592B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>
                <a:solidFill>
                  <a:schemeClr val="bg1"/>
                </a:solidFill>
              </a:rPr>
              <a:t>Bluestock</a:t>
            </a:r>
            <a:r>
              <a:rPr lang="en-IN" dirty="0">
                <a:solidFill>
                  <a:schemeClr val="bg1"/>
                </a:solidFill>
              </a:rPr>
              <a:t> Fintech Capstone Project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356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D4217F-1503-F7B7-D6E5-712B06C22A08}"/>
              </a:ext>
            </a:extLst>
          </p:cNvPr>
          <p:cNvSpPr txBox="1"/>
          <p:nvPr/>
        </p:nvSpPr>
        <p:spPr>
          <a:xfrm>
            <a:off x="3574025" y="609600"/>
            <a:ext cx="5043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+mj-lt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88DC80-ED48-34D4-27EF-5E7E37970D93}"/>
              </a:ext>
            </a:extLst>
          </p:cNvPr>
          <p:cNvSpPr txBox="1"/>
          <p:nvPr/>
        </p:nvSpPr>
        <p:spPr>
          <a:xfrm>
            <a:off x="1179871" y="1504335"/>
            <a:ext cx="6420476" cy="49398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Problem Statement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Mutual fund data is fragmented across multiple sources.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Investors struggle to compare funds using risk-adjusted metrics.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Benchmark performance tracking is limited.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Investor </a:t>
            </a:r>
            <a:r>
              <a:rPr lang="en-IN" dirty="0" err="1"/>
              <a:t>behavior</a:t>
            </a:r>
            <a:r>
              <a:rPr lang="en-IN" dirty="0"/>
              <a:t> insights are often unavailable.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Objectives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Build an automated ETL pipeline.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Design a relational database.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Perform fund performance analysis.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Develop interactive Power BI dashboards.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Generate actionable investment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204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0341B1-EFC7-7B8D-D80B-92EC94DE1DBB}"/>
              </a:ext>
            </a:extLst>
          </p:cNvPr>
          <p:cNvSpPr txBox="1"/>
          <p:nvPr/>
        </p:nvSpPr>
        <p:spPr>
          <a:xfrm>
            <a:off x="5033497" y="491613"/>
            <a:ext cx="2102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+mj-lt"/>
              </a:rPr>
              <a:t>Data Sources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B75813-08DE-F6BD-C22B-2A5D88ED352E}"/>
              </a:ext>
            </a:extLst>
          </p:cNvPr>
          <p:cNvSpPr txBox="1"/>
          <p:nvPr/>
        </p:nvSpPr>
        <p:spPr>
          <a:xfrm>
            <a:off x="2476489" y="1356852"/>
            <a:ext cx="7788387" cy="4662815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Datasets Used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Fund Master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NAV History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AUM by Fund House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Monthly SIP Inflows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Category Inflows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Industry Folio Count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Scheme 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Investor Transactions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Portfolio Holdings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Benchmark Indices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Sources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AMFI India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mfapi.in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NSE India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BSE India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7235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F05E8B-426F-09C2-69D9-FE52DBF3296E}"/>
              </a:ext>
            </a:extLst>
          </p:cNvPr>
          <p:cNvSpPr txBox="1"/>
          <p:nvPr/>
        </p:nvSpPr>
        <p:spPr>
          <a:xfrm>
            <a:off x="4745982" y="363794"/>
            <a:ext cx="3145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+mj-lt"/>
              </a:rPr>
              <a:t>System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5B0CFE-B081-6363-197D-EA2A6A826FB7}"/>
              </a:ext>
            </a:extLst>
          </p:cNvPr>
          <p:cNvSpPr/>
          <p:nvPr/>
        </p:nvSpPr>
        <p:spPr>
          <a:xfrm>
            <a:off x="5279923" y="1159756"/>
            <a:ext cx="1465006" cy="33474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Sources</a:t>
            </a:r>
            <a:endParaRPr lang="en-I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C58E48-3116-E6A9-D62A-AEFEFDE2E62D}"/>
              </a:ext>
            </a:extLst>
          </p:cNvPr>
          <p:cNvCxnSpPr>
            <a:stCxn id="3" idx="2"/>
          </p:cNvCxnSpPr>
          <p:nvPr/>
        </p:nvCxnSpPr>
        <p:spPr>
          <a:xfrm>
            <a:off x="6012426" y="1494503"/>
            <a:ext cx="4916" cy="285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42689A5-855F-E853-0147-84AD851117B5}"/>
              </a:ext>
            </a:extLst>
          </p:cNvPr>
          <p:cNvSpPr/>
          <p:nvPr/>
        </p:nvSpPr>
        <p:spPr>
          <a:xfrm>
            <a:off x="5188974" y="1774272"/>
            <a:ext cx="1651819" cy="33474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Extraction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B31F8A-1533-3C5D-8178-D1C8A2BF66B3}"/>
              </a:ext>
            </a:extLst>
          </p:cNvPr>
          <p:cNvSpPr/>
          <p:nvPr/>
        </p:nvSpPr>
        <p:spPr>
          <a:xfrm>
            <a:off x="5188974" y="2404101"/>
            <a:ext cx="1715728" cy="61988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Cleaning &amp; Transformation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B787CE-A972-60E1-3652-125E22A01FEC}"/>
              </a:ext>
            </a:extLst>
          </p:cNvPr>
          <p:cNvSpPr/>
          <p:nvPr/>
        </p:nvSpPr>
        <p:spPr>
          <a:xfrm>
            <a:off x="5085735" y="3277523"/>
            <a:ext cx="1858296" cy="33474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SQLite Databases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7BA9BB-7880-CB95-FFCB-8BAB5FC2FC97}"/>
              </a:ext>
            </a:extLst>
          </p:cNvPr>
          <p:cNvSpPr/>
          <p:nvPr/>
        </p:nvSpPr>
        <p:spPr>
          <a:xfrm>
            <a:off x="5125065" y="3910917"/>
            <a:ext cx="1764890" cy="33474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EDA &amp; Analytics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081D7B-9D0B-A026-E2EA-DC4F805E5751}"/>
              </a:ext>
            </a:extLst>
          </p:cNvPr>
          <p:cNvSpPr/>
          <p:nvPr/>
        </p:nvSpPr>
        <p:spPr>
          <a:xfrm>
            <a:off x="5146572" y="5251729"/>
            <a:ext cx="1736622" cy="33474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Business Insights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4ACFA6-E69C-D334-F50C-47607297247E}"/>
              </a:ext>
            </a:extLst>
          </p:cNvPr>
          <p:cNvSpPr/>
          <p:nvPr/>
        </p:nvSpPr>
        <p:spPr>
          <a:xfrm>
            <a:off x="4983725" y="4577942"/>
            <a:ext cx="2121310" cy="33474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Power BI Dashboard</a:t>
            </a:r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4ACAE2-510D-15DC-00CA-D28BE59E1E03}"/>
              </a:ext>
            </a:extLst>
          </p:cNvPr>
          <p:cNvCxnSpPr/>
          <p:nvPr/>
        </p:nvCxnSpPr>
        <p:spPr>
          <a:xfrm>
            <a:off x="6012426" y="2119302"/>
            <a:ext cx="4916" cy="285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9FE0BA2-9EF3-6812-429C-26A809BEC4F5}"/>
              </a:ext>
            </a:extLst>
          </p:cNvPr>
          <p:cNvCxnSpPr/>
          <p:nvPr/>
        </p:nvCxnSpPr>
        <p:spPr>
          <a:xfrm>
            <a:off x="6041922" y="3023647"/>
            <a:ext cx="4916" cy="285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7149059-B9AA-2C61-F1D4-652F506D7698}"/>
              </a:ext>
            </a:extLst>
          </p:cNvPr>
          <p:cNvCxnSpPr/>
          <p:nvPr/>
        </p:nvCxnSpPr>
        <p:spPr>
          <a:xfrm>
            <a:off x="6041922" y="3614543"/>
            <a:ext cx="4916" cy="285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26E58B-76F3-7D2A-6316-694D0F773EDF}"/>
              </a:ext>
            </a:extLst>
          </p:cNvPr>
          <p:cNvCxnSpPr/>
          <p:nvPr/>
        </p:nvCxnSpPr>
        <p:spPr>
          <a:xfrm>
            <a:off x="6037006" y="4269235"/>
            <a:ext cx="4916" cy="285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9D282ED-B6B6-C6A5-3C1F-4E248F12988B}"/>
              </a:ext>
            </a:extLst>
          </p:cNvPr>
          <p:cNvCxnSpPr/>
          <p:nvPr/>
        </p:nvCxnSpPr>
        <p:spPr>
          <a:xfrm>
            <a:off x="6029632" y="4939641"/>
            <a:ext cx="4916" cy="285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741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0D5788-B02E-0A53-4584-86E6879427E2}"/>
              </a:ext>
            </a:extLst>
          </p:cNvPr>
          <p:cNvSpPr txBox="1"/>
          <p:nvPr/>
        </p:nvSpPr>
        <p:spPr>
          <a:xfrm>
            <a:off x="3581593" y="570271"/>
            <a:ext cx="57629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+mj-lt"/>
              </a:rPr>
              <a:t>EDA Highlights – NAV &amp; AUM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003057-150A-9781-54E2-CB1CE9CA15B0}"/>
              </a:ext>
            </a:extLst>
          </p:cNvPr>
          <p:cNvSpPr txBox="1"/>
          <p:nvPr/>
        </p:nvSpPr>
        <p:spPr>
          <a:xfrm>
            <a:off x="983226" y="1347021"/>
            <a:ext cx="10510683" cy="340041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NAV Trend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Analyzed</a:t>
            </a:r>
            <a:r>
              <a:rPr lang="en-IN" dirty="0"/>
              <a:t> NAV performance from 2022–2026.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Most equity funds showed long-term growth.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Market corrections followed by recovery phases.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b="1" dirty="0"/>
          </a:p>
          <a:p>
            <a:pPr>
              <a:lnSpc>
                <a:spcPct val="150000"/>
              </a:lnSpc>
            </a:pPr>
            <a:endParaRPr lang="en-IN" b="1" dirty="0"/>
          </a:p>
          <a:p>
            <a:pPr>
              <a:lnSpc>
                <a:spcPct val="150000"/>
              </a:lnSpc>
            </a:pPr>
            <a:endParaRPr lang="en-IN" b="1" dirty="0"/>
          </a:p>
          <a:p>
            <a:pPr>
              <a:lnSpc>
                <a:spcPct val="150000"/>
              </a:lnSpc>
            </a:pPr>
            <a:r>
              <a:rPr lang="en-IN" b="1" dirty="0"/>
              <a:t>AUM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SBI Mutual Fund remained the largest AMC.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Strong AUM growth observed across fund houses.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B43256-EFFE-DFE6-87BC-79F175EC9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90" y="3017353"/>
            <a:ext cx="5535561" cy="36080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117B6A-0498-42ED-80E0-54AFC1174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598" y="3017353"/>
            <a:ext cx="5086311" cy="360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299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C53543-4692-ECC3-5952-6868526854F4}"/>
              </a:ext>
            </a:extLst>
          </p:cNvPr>
          <p:cNvSpPr txBox="1"/>
          <p:nvPr/>
        </p:nvSpPr>
        <p:spPr>
          <a:xfrm>
            <a:off x="3503335" y="540774"/>
            <a:ext cx="5998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+mj-lt"/>
              </a:rPr>
              <a:t>EDA Highlights – SIP &amp; Investor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99F572-2B9E-B11D-E592-178213150715}"/>
              </a:ext>
            </a:extLst>
          </p:cNvPr>
          <p:cNvSpPr txBox="1"/>
          <p:nvPr/>
        </p:nvSpPr>
        <p:spPr>
          <a:xfrm>
            <a:off x="943897" y="1435511"/>
            <a:ext cx="10392697" cy="2308324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SIP Growth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Consistent increase in SIP inflows.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Record SIP inflow of ₹31,002 Crore in Dec 2025.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b="1" dirty="0"/>
          </a:p>
          <a:p>
            <a:pPr>
              <a:lnSpc>
                <a:spcPct val="150000"/>
              </a:lnSpc>
            </a:pPr>
            <a:r>
              <a:rPr lang="en-IN" b="1" dirty="0"/>
              <a:t>Investor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Age group 25–40 contributed most investments.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Maharashtra, Karnataka, and Delhi led transaction volumes.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52FADD-7972-ACEE-0198-F6EC4DB38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25" y="2711728"/>
            <a:ext cx="5417753" cy="3605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C58FDD-E5BA-6F43-2678-AF6FD7A72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45" y="2711728"/>
            <a:ext cx="4744065" cy="360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89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EB60E8-93C0-3A38-7BF4-3CD21287977E}"/>
              </a:ext>
            </a:extLst>
          </p:cNvPr>
          <p:cNvSpPr txBox="1"/>
          <p:nvPr/>
        </p:nvSpPr>
        <p:spPr>
          <a:xfrm>
            <a:off x="4089938" y="570271"/>
            <a:ext cx="40121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+mj-lt"/>
              </a:rPr>
              <a:t>Fund Performance Metrics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776E92-3333-EBFA-DD60-53DA9354C5D0}"/>
              </a:ext>
            </a:extLst>
          </p:cNvPr>
          <p:cNvSpPr txBox="1"/>
          <p:nvPr/>
        </p:nvSpPr>
        <p:spPr>
          <a:xfrm>
            <a:off x="993058" y="1415845"/>
            <a:ext cx="7611251" cy="4108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Metrics Calculated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Annualized Return: Measures the average yearly return generated by a fund.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CAGR: Shows the compounded annual growth rate over a specific period.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Sharpe Ratio: Measures risk-adjusted return using total volatility.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Sortino Ratio: Measures risk-adjusted return considering only downside risk.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Alpha: Indicates a fund's excess return compared to its benchmark.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Beta: Measures the fund's sensitivity to overall market movements.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Purpose</a:t>
            </a:r>
          </a:p>
          <a:p>
            <a:pPr>
              <a:lnSpc>
                <a:spcPct val="150000"/>
              </a:lnSpc>
            </a:pPr>
            <a:r>
              <a:rPr lang="en-IN" dirty="0"/>
              <a:t>Evaluate return generation and risk-adjusted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4767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47EAF8-2BA8-5ABC-839E-5CBE3284E8A3}"/>
              </a:ext>
            </a:extLst>
          </p:cNvPr>
          <p:cNvSpPr txBox="1"/>
          <p:nvPr/>
        </p:nvSpPr>
        <p:spPr>
          <a:xfrm>
            <a:off x="4267200" y="550606"/>
            <a:ext cx="34451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+mj-lt"/>
              </a:rPr>
              <a:t>Advanced Risk Metrics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9407C6-3603-E414-57EA-8F3F367FF2C4}"/>
              </a:ext>
            </a:extLst>
          </p:cNvPr>
          <p:cNvSpPr txBox="1"/>
          <p:nvPr/>
        </p:nvSpPr>
        <p:spPr>
          <a:xfrm>
            <a:off x="1337187" y="1484671"/>
            <a:ext cx="8752717" cy="49398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Risk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Maximum Drawdown: Largest decline from a fund's peak NAV.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Tracking Error: Measures deviation from benchmark returns.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Value at Risk (</a:t>
            </a:r>
            <a:r>
              <a:rPr lang="en-IN" dirty="0" err="1"/>
              <a:t>VaR</a:t>
            </a:r>
            <a:r>
              <a:rPr lang="en-IN" dirty="0"/>
              <a:t>): Estimates the maximum expected loss at a 95% confidence level.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Conditional </a:t>
            </a:r>
            <a:r>
              <a:rPr lang="en-IN" dirty="0" err="1"/>
              <a:t>VaR</a:t>
            </a:r>
            <a:r>
              <a:rPr lang="en-IN" dirty="0"/>
              <a:t> (CVaR): Measures the average loss beyond the </a:t>
            </a:r>
            <a:r>
              <a:rPr lang="en-IN" dirty="0" err="1"/>
              <a:t>VaR</a:t>
            </a:r>
            <a:r>
              <a:rPr lang="en-IN" dirty="0"/>
              <a:t> threshold.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Advanced Analytics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Rolling Sharpe Ratio: Tracks risk-adjusted performance over time.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Investor Cohort Analysis: Compares investment </a:t>
            </a:r>
            <a:r>
              <a:rPr lang="en-IN" dirty="0" err="1"/>
              <a:t>behavior</a:t>
            </a:r>
            <a:r>
              <a:rPr lang="en-IN" dirty="0"/>
              <a:t> across investor groups.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SIP Continuity Analysis: Identifies investors at risk of SIP discontinuation.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Sector Concentration Analysis: Evaluates portfolio diversification and concentration risk. 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7698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C89FE5-F484-110D-AE96-028BBA43A329}"/>
              </a:ext>
            </a:extLst>
          </p:cNvPr>
          <p:cNvSpPr txBox="1"/>
          <p:nvPr/>
        </p:nvSpPr>
        <p:spPr>
          <a:xfrm>
            <a:off x="2192175" y="530941"/>
            <a:ext cx="7807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Dashboard – Industry Overview &amp; Fund Performance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EFA1F0-0B7B-29BE-EEE6-C0AC09AA8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58" y="1218965"/>
            <a:ext cx="6055882" cy="31781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10946E-F857-E893-B552-3FBBAEB80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668" y="3156155"/>
            <a:ext cx="5606752" cy="339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884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5205A5-A157-608D-9745-17BAE61BD758}"/>
              </a:ext>
            </a:extLst>
          </p:cNvPr>
          <p:cNvSpPr txBox="1"/>
          <p:nvPr/>
        </p:nvSpPr>
        <p:spPr>
          <a:xfrm>
            <a:off x="1978462" y="422787"/>
            <a:ext cx="8235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+mj-lt"/>
              </a:rPr>
              <a:t>Dashboard – Investor Analytics &amp; SIP and Market Trends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B23D81-E4B0-C8FD-8864-E38A2B952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71" y="1165583"/>
            <a:ext cx="5731510" cy="32289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DB6C5C-F6AF-D65E-94E0-006F100B8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381" y="3071996"/>
            <a:ext cx="5731510" cy="320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410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72B358-3D7D-46B2-47E8-6236E09441FE}"/>
              </a:ext>
            </a:extLst>
          </p:cNvPr>
          <p:cNvSpPr txBox="1"/>
          <p:nvPr/>
        </p:nvSpPr>
        <p:spPr>
          <a:xfrm>
            <a:off x="4355690" y="688258"/>
            <a:ext cx="1984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+mj-lt"/>
              </a:rPr>
              <a:t>Key Findings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DFA4312-4FBE-0796-0554-5D78A0D22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199" y="1656169"/>
            <a:ext cx="607865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Industry AUM increased significantly from 2022–2025.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SIP inflows reached record levels.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Equity funds generated strong long-term returns.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Younger investors preferred SIP investments.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Several funds demonstrated strong risk-adjusted performance.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Sector concentration analysis identified diversification risks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72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C1CDDF-4BC3-755B-C0F2-2E6DCA8052B4}"/>
              </a:ext>
            </a:extLst>
          </p:cNvPr>
          <p:cNvSpPr txBox="1"/>
          <p:nvPr/>
        </p:nvSpPr>
        <p:spPr>
          <a:xfrm>
            <a:off x="5159654" y="3167390"/>
            <a:ext cx="18726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Thank You !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1961646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{55EAA483-6E5A-4FA7-AAD7-D593D9D63357}TFfb9a325e-b4a8-473d-b025-df086f5ae4937a5f077a-90802770140c</Template>
  <TotalTime>49</TotalTime>
  <Words>470</Words>
  <Application>Microsoft Office PowerPoint</Application>
  <PresentationFormat>Widescreen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Parcel</vt:lpstr>
      <vt:lpstr>Mutual Fund Analytics Platform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 S</dc:creator>
  <cp:lastModifiedBy>Nisha S</cp:lastModifiedBy>
  <cp:revision>1</cp:revision>
  <dcterms:created xsi:type="dcterms:W3CDTF">2026-06-11T17:39:34Z</dcterms:created>
  <dcterms:modified xsi:type="dcterms:W3CDTF">2026-06-11T18:28:41Z</dcterms:modified>
</cp:coreProperties>
</file>